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Investigating LLM Bias in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Turin Tenant Screening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project · 7,800 API evaluations · June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Models: openrouter/owl-alpha  ·  qwen3.5-9b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LLMs are increasingly used to screen rental applicants.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models reject applicants based on gender or national origin — beyond income and employment — that raises fair-housing concerns.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audit two open models on synthetic Turin listings with controlled applicant profiles.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measure demographic effects and test simple prompt mitigations.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questions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RQ1 — Gender: Does gender affect fit decisions?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RQ2 — National background: Does origin/status affect decisions?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RQ3 — Intersectional: Do gender effects differ by background?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RQ4 — Mitigation: Do fairness or chain-of-thought prompts change outcomes?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Experimental design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real Turin rental listings (€500–€1,750/month).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480 synthetic applicants: 24 sets (income × employment × family) × 20 profiles each.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 audit: 5 × 480 = 2,400 single-call evaluations per model.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RQ4: 500 pairs × 3 prompt conditions (baseline, explicit fairness, CoT) per model.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Total: 7,800 API calls · ~8 h (owl-alpha) · ~9 h (qwen3.5-9b).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Models &amp; providers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8138160" cy="914400"/>
        </p:xfrm>
        <a:graphic>
          <a:graphicData uri="http://schemas.openxmlformats.org/drawingml/2006/table">
            <a:tbl>
              <a:tblPr/>
              <a:tblGrid>
                <a:gridCol w="2034540"/>
                <a:gridCol w="2034540"/>
                <a:gridCol w="2034540"/>
                <a:gridCol w="20345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Provider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calls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RQ4 calls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openrouter/owl-alpha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OpenRouter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2,400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1,500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qwen3.5-9b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Regolo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2,400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1,500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Headline results — income dominates (both models)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8138160" cy="914400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Income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owl-alpha Yes%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qwen3.5-9b Yes%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(€12k/yr)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1.5%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1.1%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 (€28k/yr)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40.5%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33.0%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 (€60k/yr)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66.5%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54.9%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RQ2 — National background (significant)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8138160" cy="914400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Background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owl-alpha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qwen3.5-9b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 citizen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31.7%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24.8%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EU foreigner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32.1%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26.2%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Non-EU (permit)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32.9%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28.8%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Second generation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32.5%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27.3%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Refugee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51.7%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41.2%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RQ2 takeaway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Refugees receive substantially higher Yes rates than other groups (~15–20 pp gap).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χ² significant for national background on both models (Cramer's V ≈ 0.13–0.16).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 persists within income strata (income ablation).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Motivations often cite refugee/protection status explicitly.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RQ1 — Gender (model-dependent)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8138160" cy="914400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Metric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owl-alpha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qwen3.5-9b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Male Yes%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34.1%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28.8%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Female Yes%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38.2%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30.6%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p-value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0.037 (significant)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0.348 (not significant)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RQ3 — Intersectional effects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Gender gaps are small within each national-background group.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Cochran's Q test: no significant heterogeneity across backgrounds (p ≈ 0.95).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Refugee elevation appears for both male and female applicants.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Conclusion: background effect is not driven by gender × background interaction.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figures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charts exported to results/figures_sft/ (same data as docs/index.html).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model: income, background, gender, apartment, intersection, ablation, RQ4 mitigation.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following slides for each figure.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 1 — Fit rate by income — openrouter/owl-alpha</a:t>
            </a:r>
            <a:endParaRPr lang="en-US" sz="1800" dirty="0"/>
          </a:p>
        </p:txBody>
      </p:sp>
      <p:pic>
        <p:nvPicPr>
          <p:cNvPr id="4" name="Image 0" descr="C:\Users\Asus F15\OneDrive\Desktop\Thesis\Notebooks\tenant_bias_project\LLM_SFT\results\figures_sft\dashboard_income_ow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868680"/>
            <a:ext cx="81381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6177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results/figures_sft/dashboard_income_owl.png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 2 — Fit rate by national background — openrouter/owl-alpha</a:t>
            </a:r>
            <a:endParaRPr lang="en-US" sz="1800" dirty="0"/>
          </a:p>
        </p:txBody>
      </p:sp>
      <p:pic>
        <p:nvPicPr>
          <p:cNvPr id="4" name="Image 0" descr="C:\Users\Asus F15\OneDrive\Desktop\Thesis\Notebooks\tenant_bias_project\LLM_SFT\results\figures_sft\dashboard_background_ow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868680"/>
            <a:ext cx="81381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6177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results/figures_sft/dashboard_background_owl.png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 3 — Fit rate by gender — openrouter/owl-alpha</a:t>
            </a:r>
            <a:endParaRPr lang="en-US" sz="1800" dirty="0"/>
          </a:p>
        </p:txBody>
      </p:sp>
      <p:pic>
        <p:nvPicPr>
          <p:cNvPr id="4" name="Image 0" descr="C:\Users\Asus F15\OneDrive\Desktop\Thesis\Notebooks\tenant_bias_project\LLM_SFT\results\figures_sft\dashboard_gender_ow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868680"/>
            <a:ext cx="81381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6177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results/figures_sft/dashboard_gender_owl.png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 4 — Fit rate by apartment — openrouter/owl-alpha</a:t>
            </a:r>
            <a:endParaRPr lang="en-US" sz="1800" dirty="0"/>
          </a:p>
        </p:txBody>
      </p:sp>
      <p:pic>
        <p:nvPicPr>
          <p:cNvPr id="4" name="Image 0" descr="C:\Users\Asus F15\OneDrive\Desktop\Thesis\Notebooks\tenant_bias_project\LLM_SFT\results\figures_sft\dashboard_apartment_ow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868680"/>
            <a:ext cx="81381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6177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results/figures_sft/dashboard_apartment_owl.png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 5 — Gender × national background — openrouter/owl-alpha</a:t>
            </a:r>
            <a:endParaRPr lang="en-US" sz="1800" dirty="0"/>
          </a:p>
        </p:txBody>
      </p:sp>
      <p:pic>
        <p:nvPicPr>
          <p:cNvPr id="4" name="Image 0" descr="C:\Users\Asus F15\OneDrive\Desktop\Thesis\Notebooks\tenant_bias_project\LLM_SFT\results\figures_sft\dashboard_intersection_ow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868680"/>
            <a:ext cx="81381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6177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results/figures_sft/dashboard_intersection_owl.png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 6 — Income ablation (background within income) — openrouter/owl-alpha</a:t>
            </a:r>
            <a:endParaRPr lang="en-US" sz="1800" dirty="0"/>
          </a:p>
        </p:txBody>
      </p:sp>
      <p:pic>
        <p:nvPicPr>
          <p:cNvPr id="4" name="Image 0" descr="C:\Users\Asus F15\OneDrive\Desktop\Thesis\Notebooks\tenant_bias_project\LLM_SFT\results\figures_sft\dashboard_ablation_ow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868680"/>
            <a:ext cx="81381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6177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results/figures_sft/dashboard_ablation_owl.png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 7 — RQ4 mitigation conditions — openrouter/owl-alpha</a:t>
            </a:r>
            <a:endParaRPr lang="en-US" sz="1800" dirty="0"/>
          </a:p>
        </p:txBody>
      </p:sp>
      <p:pic>
        <p:nvPicPr>
          <p:cNvPr id="4" name="Image 0" descr="C:\Users\Asus F15\OneDrive\Desktop\Thesis\Notebooks\tenant_bias_project\LLM_SFT\results\figures_sft\dashboard_mitigation_ow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868680"/>
            <a:ext cx="81381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6177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results/figures_sft/dashboard_mitigation_owl.png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 8 — RQ4 Yes rate by apartment — openrouter/owl-alpha</a:t>
            </a:r>
            <a:endParaRPr lang="en-US" sz="1800" dirty="0"/>
          </a:p>
        </p:txBody>
      </p:sp>
      <p:pic>
        <p:nvPicPr>
          <p:cNvPr id="4" name="Image 0" descr="C:\Users\Asus F15\OneDrive\Desktop\Thesis\Notebooks\tenant_bias_project\LLM_SFT\results\figures_sft\dashboard_mit_by_apt_ow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868680"/>
            <a:ext cx="81381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6177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results/figures_sft/dashboard_mit_by_apt_owl.png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 9 — Fit rate by income — qwen3.5-9b</a:t>
            </a:r>
            <a:endParaRPr lang="en-US" sz="1800" dirty="0"/>
          </a:p>
        </p:txBody>
      </p:sp>
      <p:pic>
        <p:nvPicPr>
          <p:cNvPr id="4" name="Image 0" descr="C:\Users\Asus F15\OneDrive\Desktop\Thesis\Notebooks\tenant_bias_project\LLM_SFT\results\figures_sft\dashboard_income_qw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868680"/>
            <a:ext cx="81381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6177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results/figures_sft/dashboard_income_qwen.png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 10 — Fit rate by national background — qwen3.5-9b</a:t>
            </a:r>
            <a:endParaRPr lang="en-US" sz="1800" dirty="0"/>
          </a:p>
        </p:txBody>
      </p:sp>
      <p:pic>
        <p:nvPicPr>
          <p:cNvPr id="4" name="Image 0" descr="C:\Users\Asus F15\OneDrive\Desktop\Thesis\Notebooks\tenant_bias_project\LLM_SFT\results\figures_sft\dashboard_background_qw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868680"/>
            <a:ext cx="81381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6177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results/figures_sft/dashboard_background_qwen.png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 11 — Fit rate by gender — qwen3.5-9b</a:t>
            </a:r>
            <a:endParaRPr lang="en-US" sz="1800" dirty="0"/>
          </a:p>
        </p:txBody>
      </p:sp>
      <p:pic>
        <p:nvPicPr>
          <p:cNvPr id="4" name="Image 0" descr="C:\Users\Asus F15\OneDrive\Desktop\Thesis\Notebooks\tenant_bias_project\LLM_SFT\results\figures_sft\dashboard_gender_qw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868680"/>
            <a:ext cx="81381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6177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results/figures_sft/dashboard_gender_qwen.png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 12 — Fit rate by apartment — qwen3.5-9b</a:t>
            </a:r>
            <a:endParaRPr lang="en-US" sz="1800" dirty="0"/>
          </a:p>
        </p:txBody>
      </p:sp>
      <p:pic>
        <p:nvPicPr>
          <p:cNvPr id="4" name="Image 0" descr="C:\Users\Asus F15\OneDrive\Desktop\Thesis\Notebooks\tenant_bias_project\LLM_SFT\results\figures_sft\dashboard_apartment_qw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868680"/>
            <a:ext cx="81381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6177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results/figures_sft/dashboard_apartment_qwen.png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 13 — Gender × national background — qwen3.5-9b</a:t>
            </a:r>
            <a:endParaRPr lang="en-US" sz="1800" dirty="0"/>
          </a:p>
        </p:txBody>
      </p:sp>
      <p:pic>
        <p:nvPicPr>
          <p:cNvPr id="4" name="Image 0" descr="C:\Users\Asus F15\OneDrive\Desktop\Thesis\Notebooks\tenant_bias_project\LLM_SFT\results\figures_sft\dashboard_intersection_qw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868680"/>
            <a:ext cx="81381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6177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results/figures_sft/dashboard_intersection_qwen.png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 14 — Income ablation (background within income) — qwen3.5-9b</a:t>
            </a:r>
            <a:endParaRPr lang="en-US" sz="1800" dirty="0"/>
          </a:p>
        </p:txBody>
      </p:sp>
      <p:pic>
        <p:nvPicPr>
          <p:cNvPr id="4" name="Image 0" descr="C:\Users\Asus F15\OneDrive\Desktop\Thesis\Notebooks\tenant_bias_project\LLM_SFT\results\figures_sft\dashboard_ablation_qw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868680"/>
            <a:ext cx="81381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6177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results/figures_sft/dashboard_ablation_qwen.png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 15 — RQ4 mitigation conditions — qwen3.5-9b</a:t>
            </a:r>
            <a:endParaRPr lang="en-US" sz="1800" dirty="0"/>
          </a:p>
        </p:txBody>
      </p:sp>
      <p:pic>
        <p:nvPicPr>
          <p:cNvPr id="4" name="Image 0" descr="C:\Users\Asus F15\OneDrive\Desktop\Thesis\Notebooks\tenant_bias_project\LLM_SFT\results\figures_sft\dashboard_mitigation_qw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868680"/>
            <a:ext cx="81381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6177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results/figures_sft/dashboard_mitigation_qwen.png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 16 — RQ4 Yes rate by apartment — qwen3.5-9b</a:t>
            </a:r>
            <a:endParaRPr lang="en-US" sz="1800" dirty="0"/>
          </a:p>
        </p:txBody>
      </p:sp>
      <p:pic>
        <p:nvPicPr>
          <p:cNvPr id="4" name="Image 0" descr="C:\Users\Asus F15\OneDrive\Desktop\Thesis\Notebooks\tenant_bias_project\LLM_SFT\results\figures_sft\dashboard_mit_by_apt_qw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868680"/>
            <a:ext cx="81381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6177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results/figures_sft/dashboard_mit_by_apt_qwen.png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 17 — RQ3 heatmap — gender × background (full sample)</a:t>
            </a:r>
            <a:endParaRPr lang="en-US" sz="1800" dirty="0"/>
          </a:p>
        </p:txBody>
      </p:sp>
      <p:pic>
        <p:nvPicPr>
          <p:cNvPr id="4" name="Image 0" descr="C:\Users\Asus F15\OneDrive\Desktop\Thesis\Notebooks\tenant_bias_project\LLM_SFT\results\figures_sft\heatmap_bg_x_gender_fu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868680"/>
            <a:ext cx="81381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6177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results/figures_sft/heatmap_bg_x_gender_full.png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 18 — RQ3 heatmap — medium income only</a:t>
            </a:r>
            <a:endParaRPr lang="en-US" sz="1800" dirty="0"/>
          </a:p>
        </p:txBody>
      </p:sp>
      <p:pic>
        <p:nvPicPr>
          <p:cNvPr id="4" name="Image 0" descr="C:\Users\Asus F15\OneDrive\Desktop\Thesis\Notebooks\tenant_bias_project\LLM_SFT\results\figures_sft\heatmap_bg_x_gender_mediu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868680"/>
            <a:ext cx="81381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6177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results/figures_sft/heatmap_bg_x_gender_medium.png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 19 — Income ablation bar chart (qwen3.5-9b)</a:t>
            </a:r>
            <a:endParaRPr lang="en-US" sz="1800" dirty="0"/>
          </a:p>
        </p:txBody>
      </p:sp>
      <p:pic>
        <p:nvPicPr>
          <p:cNvPr id="4" name="Image 0" descr="C:\Users\Asus F15\OneDrive\Desktop\Thesis\Notebooks\tenant_bias_project\LLM_SFT\results\figures_sft\ablation_background_by_inc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868680"/>
            <a:ext cx="81381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6177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results/figures_sft/ablation_background_by_income.png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RQ4 — Mitigation (500 pairs × 3 conditions)</a:t>
            </a:r>
            <a:endParaRPr lang="en-US" sz="2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8138160" cy="914400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Condition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owl-alpha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qwen3.5-9b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Baseline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37.6%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32.0%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Explicit fairness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37.4%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39.0%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Chain-of-thought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25.0%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32.4%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RQ4 takeaway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Explicit fairness prompt barely shifts owl-alpha; raises Yes rate slightly on Qwen.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Chain-of-thought makes owl-alpha much stricter (−12.6 pp); neutral on Qwen.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Nationality gaps largely unchanged — simple prompts are insufficient mitigation.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Synthetic profiles — not real tenant histories or documents.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Turin-only listings; five apartments may not generalize.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Single-turn JSON prompts; production systems may differ.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Refugee effect may reflect model reasoning about legal status, not pure animus.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F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Income is the strongest predictor of fit on both models.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F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Refugee applicants are accepted more often — a significant background effect.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F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Gender bias appears on owl-alpha only; Qwen shows no significant gender gap.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F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Tested mitigations do not remove nationality disparities.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&amp; dashboard: https://github.com/Sam9875/Tenant-bias-LLM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Tenant Bias Audit — Turin</dc:title>
  <dc:subject>PptxGenJS Presentation</dc:subject>
  <dc:creator>samesun</dc:creator>
  <cp:lastModifiedBy>samesun</cp:lastModifiedBy>
  <cp:revision>1</cp:revision>
  <dcterms:created xsi:type="dcterms:W3CDTF">2026-06-30T16:12:51Z</dcterms:created>
  <dcterms:modified xsi:type="dcterms:W3CDTF">2026-06-30T16:12:51Z</dcterms:modified>
</cp:coreProperties>
</file>